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소비전력</c:v>
                </c:pt>
              </c:strCache>
            </c:strRef>
          </c:tx>
          <c:dPt>
            <c:idx val="0"/>
            <c:spPr>
              <a:solidFill>
                <a:srgbClr val="2BAE66"/>
              </a:solidFill>
            </c:spPr>
          </c:dPt>
          <c:dPt>
            <c:idx val="1"/>
            <c:spPr>
              <a:solidFill>
                <a:srgbClr val="2BAE66"/>
              </a:solidFill>
            </c:spPr>
          </c:dPt>
          <c:dPt>
            <c:idx val="2"/>
            <c:spPr>
              <a:solidFill>
                <a:srgbClr val="B9C1D1"/>
              </a:solidFill>
            </c:spPr>
          </c:dPt>
          <c:dPt>
            <c:idx val="3"/>
            <c:spPr>
              <a:solidFill>
                <a:srgbClr val="B9C1D1"/>
              </a:solidFill>
            </c:spPr>
          </c:dPt>
          <c:dPt>
            <c:idx val="4"/>
            <c:spPr>
              <a:solidFill>
                <a:srgbClr val="B9C1D1"/>
              </a:solidFill>
            </c:spPr>
          </c:dPt>
          <c:dPt>
            <c:idx val="5"/>
            <c:spPr>
              <a:solidFill>
                <a:srgbClr val="E5533D"/>
              </a:solidFill>
            </c:spPr>
          </c:dPt>
          <c:dPt>
            <c:idx val="6"/>
            <c:spPr>
              <a:solidFill>
                <a:srgbClr val="E5533D"/>
              </a:solidFill>
            </c:spPr>
          </c:dPt>
          <c:dPt>
            <c:idx val="7"/>
            <c:spPr>
              <a:solidFill>
                <a:srgbClr val="E5533D"/>
              </a:solidFill>
            </c:spPr>
          </c:dPt>
          <c:cat>
            <c:strRef>
              <c:f>Sheet1!$A$2:$A$9</c:f>
              <c:strCache>
                <c:ptCount val="8"/>
                <c:pt idx="0">
                  <c:v>LED 전구</c:v>
                </c:pt>
                <c:pt idx="1">
                  <c:v>휴대폰 충전기</c:v>
                </c:pt>
                <c:pt idx="2">
                  <c:v>노트북</c:v>
                </c:pt>
                <c:pt idx="3">
                  <c:v>TV</c:v>
                </c:pt>
                <c:pt idx="4">
                  <c:v>냉장고</c:v>
                </c:pt>
                <c:pt idx="5">
                  <c:v>전자레인지</c:v>
                </c:pt>
                <c:pt idx="6">
                  <c:v>헤어드라이어</c:v>
                </c:pt>
                <c:pt idx="7">
                  <c:v>에어컨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65</c:v>
                </c:pt>
                <c:pt idx="3">
                  <c:v>150</c:v>
                </c:pt>
                <c:pt idx="4">
                  <c:v>200</c:v>
                </c:pt>
                <c:pt idx="5">
                  <c:v>1100</c:v>
                </c:pt>
                <c:pt idx="6">
                  <c:v>1500</c:v>
                </c:pt>
                <c:pt idx="7">
                  <c:v>1800</c:v>
                </c:pt>
              </c:numCache>
            </c:numRef>
          </c:val>
        </c:ser>
        <c:dLbls>
          <c:numFmt formatCode="#,##0&quot;W&quot;" sourceLinked="0"/>
          <c:txPr>
            <a:bodyPr/>
            <a:lstStyle/>
            <a:p>
              <a:pPr>
                <a:defRPr sz="1400" b="1">
                  <a:solidFill>
                    <a:srgbClr val="1F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F2433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오늘은 전기와 전자를 전혀 몰라도 괜찮습니다. 수식보다는 그림과 비유로, 우리 주변에서 매일 쓰는 전기가 어떻게 움직이는지 함께 알아보겠습니다.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전기의 정체에서 출발해 전압·전류·저항, 옴의 법칙, 회로, 전력, 직류와 교류, 전자 부품, 그리고 전기 안전까지 차례로 살펴봅니다. 마지막에는 휴대폰 충전기 하나로 오늘 배운 것을 모두 연결해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정거장입니다. 전기라는 말을 매일 쓰지만, 정확히 무엇이 움직이는지부터 알아봅시다.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책상, 공기, 우리 몸까지 모든 것은 원자라는 아주 작은 알갱이로 되어 있습니다. 원자 가운데에는 플러스 전기를 띤 원자핵이 있고, 그 주위를 마이너스 전기를 띤 전자가 돌고 있습니다. 이 전자가 이동하는 것, 그것이 바로 전기입니다.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전선 안에는 원래부터 자유롭게 떠도는 전자가 아주 많습니다. 건전지를 연결하면 이 전자들이 한 방향으로 줄지어 움직이기 시작합니다. 이것을 전류라고 부릅니다. 참고로 옛날 과학자들이 전류의 방향을 + 에서 − 로 먼저 정해 버려서, 실제 전자의 이동 방향과는 반대입니다. 오늘은 "무언가가 회로를 따라 돈다" 정도로만 기억하시면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구리나 알루미늄 같은 금속은 전자가 자유롭게 움직일 수 있어서 전기가 잘 흐릅니다. 이것을 도체라고 합니다. 반대로 고무, 플라스틱, 유리는 전자가 원자에 꽉 붙잡혀 있어 전기가 거의 흐르지 않습니다. 이것을 부도체, 절연체라고 합니다. 그래서 전선은 안쪽은 구리, 바깥은 고무나 플라스틱으로 감싸져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정거장입니다. 전기의 세 가지 핵심 단어를 물에 비유해서 알아보겠습니다.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전기는 눈에 보이지 않아서 어렵게 느껴집니다. 그래서 물에 비유해 보겠습니다. 펌프가 물을 밀어 올려 수도관을 따라 돌게 하면 물레방아가 돌아갑니다. 전기도 똑같이 건전지가 전자를 밀어내면, 전선을 따라 돌면서 전구를 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전압은 전기를 밀어주는 힘입니다. 물탱크를 높이 올릴수록 아래로 떨어지는 물의 힘이 세지죠. 전압도 마찬가지로 높을수록 전기를 세게 밀어줍니다. 단위는 볼트, V 를 씁니다. 건전지는 1.5볼트, 집의 콘센트는 220볼트입니다.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전류는 1초 동안 얼마나 많은 전기가 지나가느냐입니다. 물로 치면 수도꼭지에서 나오는 물의 양이죠. 단위는 암페어, A 를 씁니다. 전류가 많이 흐를수록 전구는 밝아지지만 전선도 뜨거워집니다.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저항은 전기의 흐름을 방해하는 정도입니다. 넓은 관에서는 물이 콸콸 흐르지만, 좁은 관에서는 졸졸 흐르죠. 단위는 옴이라고 읽고, 그리스 문자 오메가로 씁니다. 저항이라고 하면 나쁜 것 같지만, 전류가 너무 많이 흐르지 않도록 조절하는 아주 중요한 역할을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정리해 보겠습니다. 전압은 미는 힘, 전류는 흐르는 양, 저항은 방해하는 정도입니다. 앞으로 주황색은 전압, 파란색은 전류, 빨간색은 저항을 뜻합니다.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정거장, 오늘 유일하게 나오는 공식입니다. 걱정하지 마세요, 곱셈 하나면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옴의 법칙은 전압은 전류 곱하기 저항이라는 단순한 관계입니다. 삼각형에서 구하고 싶은 글자를 손으로 가려 보세요. V 를 가리면 I 곱하기 R, I 를 가리면 V 나누기 R, R 을 가리면 V 나누기 I 가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공식을 말로 바꿔 보면 아주 상식적입니다. 전압을 높이면, 즉 세게 밀면 전류가 더 많이 흐릅니다. 저항을 키우면, 즉 관을 좁히면 전류가 덜 흐릅니다. 이것이 옴의 법칙의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내용을 그래프로 보겠습니다. 가로는 전압, 세로는 전류입니다. 3옴 저항에 전압을 0볼트부터 9볼트까지 올리면 전류도 0에서 3암페어까지 반듯하게 따라 올라갑니다. 저항이 작으면 선이 가파르게, 즉 조금만 밀어도 많이 흐르고, 저항이 크면 선이 완만해집니다.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9볼트 건전지에 3옴짜리 저항을 연결했습니다. 전류를 구하려면 삼각형에서 I 를 가리면 되죠. V 나누기 R, 9 나누기 3 은 3. 전류는 3암페어가 흐릅니다.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정거장, 회로입니다.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회로는 전기가 출발해서 다시 돌아오는 한 바퀴짜리 길입니다. 중간에 길이 하나라도 끊어지면 전기가 흐르지 않습니다. 이것을 열린 회로라고 합니다. 스위치는 바로 이 길을 끊었다 이었다 하면서 전구를 껐다 켰다 하는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 기술자들은 부품을 하나하나 그리지 않고 약속된 기호로 그립니다. 이것을 회로도라고 합니다. 건전지는 긴 선과 짧은 선, 저항은 지그재그, 전구는 원 안에 X, 스위치는 끊어진 선으로 그립니다. 지도에서 기호를 보고 학교나 병원을 알아보는 것과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직렬 연결은 부품을 한 줄로 이어 붙이는 방법입니다. 길이 하나뿐이죠. 전구 두 개를 직렬로 연결하면 각각 더 어둡게 켜지고, 하나가 고장 나면 나머지도 모두 꺼집니다. 옛날 크리스마스 전구가 하나만 나가도 줄 전체가 꺼졌던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병렬 연결은 길을 여러 갈래로 나누는 방법입니다. 전구 하나하나가 건전지와 직접 연결된 것과 같아서 모두 밝게 켜지고, 하나가 꺼져도 나머지는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집의 콘센트와 전등은 모두 병렬로 연결되어 있습니다. 그래서 어느 방의 전등을 꺼도 다른 방의 전등이나 냉장고는 그대로 동작하고, 모두 똑같이 220볼트를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번째 정거장, 전기요금 고지서와 연결되는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전력은 전기가 1초 동안 얼마나 많은 일을 하느냐입니다. 전압 곱하기 전류로 구하고, 단위는 와트입니다. 같은 전구라도 10와트보다 60와트가 더 밝고, 그만큼 전기를 더 많이 씁니다. 가전제품 뒷면 스티커에 소비전력이 적혀 있으니 집에 가서 한번 찾아보세요.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대표적인 가전제품의 소비전력을 비교해 보았습니다. 대략적인 값입니다. 열을 만들거나 식히는 제품, 즉 에어컨, 헤어드라이어, 전자레인지가 전기를 가장 많이 씁니다. 반면 LED 전구나 휴대폰 충전기는 아주 적게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전기요금은 얼마나 센 제품을 얼마나 오래 썼느냐로 정해집니다. 1000와트짜리 제품을 1시간 쓰면 1킬로와트시, 100와트짜리 제품을 10시간 써도 똑같이 1킬로와트시입니다. 에어컨을 오래 켜면 요금이 많이 나오는 이유죠.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번째 정거장, 전기에도 두 가지 종류가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전기에는 두 종류가 있습니다. 직류는 한 방향으로 일정하게 흐르는 전기로, 건전지와 배터리에서 나옵니다. 교류는 방향이 계속 바뀌는 전기로, 우리나라 콘센트의 전기는 1초에 60번 방향을 바꿉니다. 이것을 60헤르츠라고 합니다. 교류는 멀리 보내기 쉬워서 발전소에서 집까지 전기를 보낼 때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콘센트에서는 교류 220볼트가 나오지만, 휴대폰이나 노트북 같은 전자제품은 낮은 직류 전기가 필요합니다. 그래서 중간에 어댑터, 즉 충전기가 들어가서 교류를 직류로, 높은 전압을 낮은 전압으로 바꿔 줍니다. 충전기가 하는 일은 마지막에 좀 더 자세히 들여다보겠습니다.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번째 정거장, 전기에서 '전자'로 넘어가는 부분입니다. 대표 부품 다섯 가지를 비유로 만나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부품은 저항입니다. 앞에서 배운 좁은 관 역할을 하는 실제 부품이죠. 색깔 띠가 그려져 있는데, 이 색깔이 저항값을 나타내는 암호입니다. 너무 작아서 숫자를 쓰기 어렵기 때문이에요.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번째는 커패시터, 우리말로 축전기입니다. 물통처럼 전기를 잠깐 담아 두었다가 내보냅니다. 카메라 플래시가 번쩍 터지는 것도 커패시터에 모아 둔 전기를 한꺼번에 내보내기 때문입니다. 전기의 흐름을 부드럽게 다듬는 역할도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커패시터에 전기를 모을 때와 내보낼 때 전압이 어떻게 변하는지 그래프로 보겠습니다. 처음에는 빠르게 차오르다가 가득 찰수록 천천히 차오르고, 내보낼 때도 처음에 빠르게, 나중에 천천히 줄어듭니다. 물통에 물이 찰수록 물 들어가는 힘이 약해지는 것과 비슷합니다.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번째는 다이오드입니다. 한쪽으로만 열리는 회전문이나 일방통행 도로를 떠올리시면 됩니다. 정해진 방향으로는 전기가 통과하지만, 반대 방향으로는 막힙니다. 이 성질을 이용해 왔다 갔다 하는 교류를 한 방향의 직류로 바꿀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번째는 LED, 빛을 내는 다이오드입니다. 다이오드라서 역시 한 방향으로만 전기가 흐르고, 그때 빛이 납니다. 다리가 두 개인데 긴 쪽이 플러스입니다. 거꾸로 꽂으면 켜지지 않아요. 백열전구보다 전기를 훨씬 적게 써서 요즘 조명은 대부분 LED입니다.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번째는 트랜지스터입니다. 수도꼭지 손잡이를 살짝 돌리면 굵은 물줄기가 콸콸 나오죠. 트랜지스터도 작은 전기 신호로 큰 전류를 켜고 끄거나 키울 수 있습니다. 스마트폰 칩 하나에는 이런 트랜지스터가 수십억 개 들어 있습니다. 컴퓨터의 0과 1이 바로 이 켜짐과 꺼짐입니다.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가지 부품을 비유와 함께 다시 한번 정리해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여덟 번째 정거장, 가장 중요한 안전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몸의 대부분은 물이라 전기가 흐를 수 있습니다. 전선을 만지고 발이 땅에 닿아 있으면, 몸이 전기가 땅으로 가는 길이 됩니다. 1밀리암페어, 즉 1천분의 1 암페어만 흘러도 찌릿함을 느끼고, 10밀리암페어면 근육이 굳어 손을 뗄 수 없게 됩니다. 아주 작은 전류도 위험하다는 것을 꼭 기억하세요. 특히 물에 젖은 손은 저항이 낮아져 전류가 훨씬 많이 흐릅니다.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누전차단기는 집 두꺼비집에 있는 장치로, 나간 전기와 돌아온 전기의 양을 계속 비교합니다. 정상이라면 둘이 같아야 하는데, 사람 몸이나 물을 통해 전기가 새면 차이가 생깁니다. 그러면 0.03초 만에 전기를 끊어 우리를 보호합니다. 한 달에 한 번 시험 버튼을 눌러 잘 작동하는지 확인해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생활 속 안전 수칙 네 가지입니다. 젖은 손으로 전기 제품 만지지 않기, 문어발식 콘센트 사용하지 않기, 플러그를 뽑을 때는 선이 아니라 몸체를 잡기, 그리고 누전차단기를 한 달에 한 번 점검하기입니다.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휴대폰 충전기 속을 들여다보겠습니다. 콘센트에서 들어온 교류 220볼트를 먼저 낮은 전압으로 낮추고, 다이오드로 한 방향으로 바꾸고, 커패시터로 울퉁불퉁한 흐름을 매끈하게 다듬고, 트랜지스터가 딱 5볼트가 되도록 조절합니다. 오늘 배운 직류와 교류, 다이오드, 커패시터, 트랜지스터가 모두 등장하죠.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앞의 다섯 단계를 지나면서 전기의 모양이 어떻게 바뀌는지 직접 보겠습니다. 큰 물결 같은 교류가 작아지고, 다이오드를 지나 한쪽으로만 솟은 모양이 되고, 커패시터가 골짜기를 메워 거의 평평해지고, 마지막으로 트랜지스터가 딱 5볼트로 반듯하게 맞춥니다.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내용을 여섯 가지로 정리했습니다. 하나씩 함께 읽어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퀴즈로 마무리해 보겠습니다. 각 문장이 맞으면 O, 틀리면 X 를 외쳐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정답입니다. 첫 번째만 O 이고 나머지는 모두 X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강의는 여기까지입니다. 궁금한 점이 있으면 편하게 질문해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2.png"/><Relationship Id="rId5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12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ero" descr="0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94360"/>
            <a:ext cx="5669280" cy="56692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1168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처음 만나는</a:t>
            </a:r>
          </a:p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전기·전자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42519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비전공자를 위한 전자전기 기초 특강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AEB6CC"/>
                </a:solidFill>
                <a:latin typeface="맑은 고딕"/>
                <a:ea typeface="맑은 고딕"/>
                <a:cs typeface="맑은 고딕"/>
              </a:rPr>
              <a:t>그림과 비유로 배우는 전기의 기본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오늘의 여정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8개의 정거장을 차례로 지나며 전기의 기본기를 익힙니다</a:t>
            </a:r>
          </a:p>
        </p:txBody>
      </p:sp>
      <p:pic>
        <p:nvPicPr>
          <p:cNvPr id="4" name="figure" descr="00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전기의 정체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전기는 도대체 무엇이 움직이는 걸까?</a:t>
            </a:r>
          </a:p>
        </p:txBody>
      </p:sp>
      <p:pic>
        <p:nvPicPr>
          <p:cNvPr id="5" name="icon" descr="sec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모든 물질은 원자로 되어 있다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원자 한가운데에는 원자핵, 그 주변에는 전자가 돌고 있습니다</a:t>
            </a:r>
          </a:p>
        </p:txBody>
      </p:sp>
      <p:pic>
        <p:nvPicPr>
          <p:cNvPr id="4" name="figure" descr="01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1897380"/>
            <a:ext cx="4375127" cy="1325880"/>
            <a:chOff x="7203919" y="189738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189738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171700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08026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원자핵 (+)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251917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가운데에 꽉 붙어 있어 잘 움직이지 않음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3451860"/>
            <a:ext cx="4375127" cy="1325880"/>
            <a:chOff x="7203919" y="345186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345186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3726180"/>
              <a:ext cx="201168" cy="201168"/>
            </a:xfrm>
            <a:prstGeom prst="ellipse">
              <a:avLst/>
            </a:prstGeom>
            <a:solidFill>
              <a:srgbClr val="1FA2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363474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전자 (−)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07365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아주 가볍고, 바깥쪽 전자는 쉽게 떨어져 나옴</a:t>
              </a:r>
            </a:p>
          </p:txBody>
        </p:sp>
      </p:grpSp>
      <p:grpSp>
        <p:nvGrpSpPr>
          <p:cNvPr id="15" name="point3"/>
          <p:cNvGrpSpPr/>
          <p:nvPr/>
        </p:nvGrpSpPr>
        <p:grpSpPr>
          <a:xfrm>
            <a:off x="7203919" y="5006340"/>
            <a:ext cx="4375127" cy="1325880"/>
            <a:chOff x="7203919" y="5006340"/>
            <a:chExt cx="4375127" cy="1325880"/>
          </a:xfrm>
        </p:grpSpPr>
        <p:sp>
          <p:nvSpPr>
            <p:cNvPr id="16" name="Rounded Rectangle 15"/>
            <p:cNvSpPr/>
            <p:nvPr/>
          </p:nvSpPr>
          <p:spPr>
            <a:xfrm>
              <a:off x="7203919" y="500634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459951" y="5280660"/>
              <a:ext cx="201168" cy="201168"/>
            </a:xfrm>
            <a:prstGeom prst="ellipse">
              <a:avLst/>
            </a:prstGeom>
            <a:solidFill>
              <a:srgbClr val="FFC2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98279" y="518922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B07800"/>
                  </a:solidFill>
                  <a:latin typeface="맑은 고딕"/>
                  <a:ea typeface="맑은 고딕"/>
                  <a:cs typeface="맑은 고딕"/>
                </a:rPr>
                <a:t>핵심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98279" y="562813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전기 = 이 '전자'가 움직이는 현상</a:t>
              </a:r>
            </a:p>
          </p:txBody>
        </p:sp>
      </p:grpSp>
      <p:sp>
        <p:nvSpPr>
          <p:cNvPr id="20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 = 전자의 행진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전선 속 전자들이 줄지어 한 방향으로 이동하는 것이 '전류'입니다</a:t>
            </a:r>
          </a:p>
        </p:txBody>
      </p:sp>
      <p:pic>
        <p:nvPicPr>
          <p:cNvPr id="4" name="m01_electron_flow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8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1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전기가 잘 흐르는 물질 vs 안 흐르는 물질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전자가 자유롭게 움직일 수 있느냐가 차이를 만듭니다</a:t>
            </a:r>
          </a:p>
        </p:txBody>
      </p:sp>
      <p:pic>
        <p:nvPicPr>
          <p:cNvPr id="4" name="figure" descr="01_condu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전압 · 전류 · 저항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전기를 '물'로 바꿔 생각하면 쉬워집니다</a:t>
            </a:r>
          </a:p>
        </p:txBody>
      </p:sp>
      <p:pic>
        <p:nvPicPr>
          <p:cNvPr id="5" name="icon" descr="sec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 회로는 물이 도는 수도관과 닮았다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펌프 = 건전지, 수도관 = 전선, 물레방아 = 전구</a:t>
            </a:r>
          </a:p>
        </p:txBody>
      </p:sp>
      <p:pic>
        <p:nvPicPr>
          <p:cNvPr id="4" name="figure" descr="02_water_vs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전압 (V) — 물을 미는 힘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물탱크가 높을수록 물이 세게 나오듯, 전압이 높을수록 전기를 세게 밉니다</a:t>
            </a:r>
          </a:p>
        </p:txBody>
      </p:sp>
      <p:pic>
        <p:nvPicPr>
          <p:cNvPr id="4" name="figure" descr="02_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단위 볼트 (V)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건전지 1.5V, 휴대폰 충전 5V, 콘센트 220V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높이 차이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전압은 두 지점 사이의 '높이 차이'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전류 (A) — 흐르는 물의 양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1초 동안 관을 지나가는 물의 양처럼, 1초에 지나가는 전기의 양입니다</a:t>
            </a:r>
          </a:p>
        </p:txBody>
      </p:sp>
      <p:pic>
        <p:nvPicPr>
          <p:cNvPr id="4" name="figure" descr="02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1FA2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단위 암페어 (A)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1초에 얼마나 많은 전자가 지나가는가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1FA2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많이 흐를수록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전구는 밝아지고, 전선은 뜨거워짐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 (Ω) — 흐름을 방해하는 좁은 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관이 좁을수록 물이 덜 흐르듯, 저항이 클수록 전류가 덜 흐릅니다</a:t>
            </a:r>
          </a:p>
        </p:txBody>
      </p:sp>
      <p:pic>
        <p:nvPicPr>
          <p:cNvPr id="4" name="figure" descr="02_res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단위 옴 (Ω)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전기가 흐르기 어려운 정도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저항은 나쁜 것?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아니요! 전류를 알맞게 조절하는 고마운 역할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세 단어를 한눈에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오늘 강의 전체에서 이 색깔 규칙을 계속 사용합니다</a:t>
            </a:r>
          </a:p>
        </p:txBody>
      </p:sp>
      <p:grpSp>
        <p:nvGrpSpPr>
          <p:cNvPr id="4" name="card1"/>
          <p:cNvGrpSpPr/>
          <p:nvPr/>
        </p:nvGrpSpPr>
        <p:grpSpPr>
          <a:xfrm>
            <a:off x="612648" y="1965960"/>
            <a:ext cx="3472586" cy="4160520"/>
            <a:chOff x="612648" y="1965960"/>
            <a:chExt cx="3472586" cy="4160520"/>
          </a:xfrm>
        </p:grpSpPr>
        <p:sp>
          <p:nvSpPr>
            <p:cNvPr id="5" name="Rounded Rectangle 4"/>
            <p:cNvSpPr/>
            <p:nvPr/>
          </p:nvSpPr>
          <p:spPr>
            <a:xfrm>
              <a:off x="612648" y="1965960"/>
              <a:ext cx="3472586" cy="4160520"/>
            </a:xfrm>
            <a:prstGeom prst="roundRect">
              <a:avLst>
                <a:gd name="adj" fmla="val 4739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" name="Picture 5" descr="icon_volt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7421" y="2377440"/>
              <a:ext cx="1463040" cy="146304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95528" y="4160520"/>
              <a:ext cx="3106826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4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전압 V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4754880"/>
              <a:ext cx="3106826" cy="12344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미는 힘 · 물탱크의 높이</a:t>
              </a:r>
            </a:p>
          </p:txBody>
        </p:sp>
      </p:grpSp>
      <p:grpSp>
        <p:nvGrpSpPr>
          <p:cNvPr id="9" name="card2"/>
          <p:cNvGrpSpPr/>
          <p:nvPr/>
        </p:nvGrpSpPr>
        <p:grpSpPr>
          <a:xfrm>
            <a:off x="4359554" y="1965960"/>
            <a:ext cx="3472586" cy="4160520"/>
            <a:chOff x="4359554" y="1965960"/>
            <a:chExt cx="3472586" cy="4160520"/>
          </a:xfrm>
        </p:grpSpPr>
        <p:sp>
          <p:nvSpPr>
            <p:cNvPr id="10" name="Rounded Rectangle 9"/>
            <p:cNvSpPr/>
            <p:nvPr/>
          </p:nvSpPr>
          <p:spPr>
            <a:xfrm>
              <a:off x="4359554" y="1965960"/>
              <a:ext cx="3472586" cy="4160520"/>
            </a:xfrm>
            <a:prstGeom prst="roundRect">
              <a:avLst>
                <a:gd name="adj" fmla="val 4739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" name="Picture 10" descr="icon_curren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4327" y="2377440"/>
              <a:ext cx="1463040" cy="14630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542434" y="4160520"/>
              <a:ext cx="3106826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4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전류 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42434" y="4754880"/>
              <a:ext cx="3106826" cy="12344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흐르는 양 · 흐르는 물의 양</a:t>
              </a:r>
            </a:p>
          </p:txBody>
        </p:sp>
      </p:grpSp>
      <p:grpSp>
        <p:nvGrpSpPr>
          <p:cNvPr id="14" name="card3"/>
          <p:cNvGrpSpPr/>
          <p:nvPr/>
        </p:nvGrpSpPr>
        <p:grpSpPr>
          <a:xfrm>
            <a:off x="8106460" y="1965960"/>
            <a:ext cx="3472586" cy="4160520"/>
            <a:chOff x="8106460" y="1965960"/>
            <a:chExt cx="3472586" cy="4160520"/>
          </a:xfrm>
        </p:grpSpPr>
        <p:sp>
          <p:nvSpPr>
            <p:cNvPr id="15" name="Rounded Rectangle 14"/>
            <p:cNvSpPr/>
            <p:nvPr/>
          </p:nvSpPr>
          <p:spPr>
            <a:xfrm>
              <a:off x="8106460" y="1965960"/>
              <a:ext cx="3472586" cy="4160520"/>
            </a:xfrm>
            <a:prstGeom prst="roundRect">
              <a:avLst>
                <a:gd name="adj" fmla="val 4739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6" name="Picture 15" descr="icon_resistanc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11234" y="2377440"/>
              <a:ext cx="1463040" cy="14630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8289340" y="4160520"/>
              <a:ext cx="3106826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4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저항 Ω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89340" y="4754880"/>
              <a:ext cx="3106826" cy="12344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방해하는 정도 · 좁은 관</a:t>
              </a:r>
            </a:p>
          </p:txBody>
        </p:sp>
      </p:grpSp>
      <p:sp>
        <p:nvSpPr>
          <p:cNvPr id="19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옴의 법칙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전압 · 전류 · 저항은 서로 연결되어 있다</a:t>
            </a:r>
          </a:p>
        </p:txBody>
      </p:sp>
      <p:pic>
        <p:nvPicPr>
          <p:cNvPr id="5" name="icon" descr="sec_o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전압 = 전류 × 저항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셋 중 두 개를 알면 나머지 하나를 구할 수 있습니다</a:t>
            </a:r>
          </a:p>
        </p:txBody>
      </p:sp>
      <p:pic>
        <p:nvPicPr>
          <p:cNvPr id="4" name="figure" descr="03_ohm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V = I × 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전압은 전류와 저항을 곱한 값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1F24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삼각형 사용법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구하고 싶은 것을 손가락으로 가리면 계산식이 보입니다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공식을 말로 풀면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세게 밀면 많이 흐르고, 많이 막으면 적게 흐른다</a:t>
            </a:r>
          </a:p>
        </p:txBody>
      </p:sp>
      <p:pic>
        <p:nvPicPr>
          <p:cNvPr id="4" name="figure" descr="03_ohm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그래프로 보는 옴의 법칙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전압을 올리면 전류도 따라 오르고, 저항이 클수록 기울기가 완만해집니다</a:t>
            </a:r>
          </a:p>
        </p:txBody>
      </p:sp>
      <p:pic>
        <p:nvPicPr>
          <p:cNvPr id="4" name="m03_ohm_grap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8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직접 계산해 보기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9V 건전지에 3Ω 저항을 연결하면 전류는 얼마일까요?</a:t>
            </a:r>
          </a:p>
        </p:txBody>
      </p:sp>
      <p:pic>
        <p:nvPicPr>
          <p:cNvPr id="4" name="figure" descr="03_ohm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1897380"/>
            <a:ext cx="4375127" cy="1325880"/>
            <a:chOff x="7203919" y="189738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189738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171700"/>
              <a:ext cx="201168" cy="201168"/>
            </a:xfrm>
            <a:prstGeom prst="ellipse">
              <a:avLst/>
            </a:prstGeom>
            <a:solidFill>
              <a:srgbClr val="1F24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08026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알고 있는 것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251917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전압 9V, 저항 3Ω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3451860"/>
            <a:ext cx="4375127" cy="1325880"/>
            <a:chOff x="7203919" y="345186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345186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3726180"/>
              <a:ext cx="201168" cy="201168"/>
            </a:xfrm>
            <a:prstGeom prst="ellipse">
              <a:avLst/>
            </a:prstGeom>
            <a:solidFill>
              <a:srgbClr val="1FA2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363474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계산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07365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I = V ÷ R = 9 ÷ 3</a:t>
              </a:r>
            </a:p>
          </p:txBody>
        </p:sp>
      </p:grpSp>
      <p:grpSp>
        <p:nvGrpSpPr>
          <p:cNvPr id="15" name="point3"/>
          <p:cNvGrpSpPr/>
          <p:nvPr/>
        </p:nvGrpSpPr>
        <p:grpSpPr>
          <a:xfrm>
            <a:off x="7203919" y="5006340"/>
            <a:ext cx="4375127" cy="1325880"/>
            <a:chOff x="7203919" y="5006340"/>
            <a:chExt cx="4375127" cy="1325880"/>
          </a:xfrm>
        </p:grpSpPr>
        <p:sp>
          <p:nvSpPr>
            <p:cNvPr id="16" name="Rounded Rectangle 15"/>
            <p:cNvSpPr/>
            <p:nvPr/>
          </p:nvSpPr>
          <p:spPr>
            <a:xfrm>
              <a:off x="7203919" y="500634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459951" y="5280660"/>
              <a:ext cx="201168" cy="201168"/>
            </a:xfrm>
            <a:prstGeom prst="ellipse">
              <a:avLst/>
            </a:prstGeom>
            <a:solidFill>
              <a:srgbClr val="2BAE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98279" y="518922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정답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98279" y="562813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전류 3A 가 흐릅니다</a:t>
              </a:r>
            </a:p>
          </p:txBody>
        </p:sp>
      </p:grpSp>
      <p:sp>
        <p:nvSpPr>
          <p:cNvPr id="20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회로의 기초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전기가 한 바퀴 도는 길</a:t>
            </a:r>
          </a:p>
        </p:txBody>
      </p:sp>
      <p:pic>
        <p:nvPicPr>
          <p:cNvPr id="5" name="icon" descr="sec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회로는 '닫혀야' 전기가 흐른다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길이 하나라도 끊기면 전기는 멈춥니다 — 스위치는 이 길을 끊었다 이었다 하는 장치</a:t>
            </a:r>
          </a:p>
        </p:txBody>
      </p:sp>
      <p:pic>
        <p:nvPicPr>
          <p:cNvPr id="4" name="figure" descr="04_open_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회로도 — 전기의 지도 기호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실제 부품을 간단한 기호로 그리면 누구나 같은 회로를 읽을 수 있습니다</a:t>
            </a:r>
          </a:p>
        </p:txBody>
      </p:sp>
      <p:pic>
        <p:nvPicPr>
          <p:cNvPr id="4" name="figure" descr="04_symb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직렬 연결 — 한 줄로 이어 붙이기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전기가 지나는 길이 하나뿐입니다</a:t>
            </a:r>
          </a:p>
        </p:txBody>
      </p:sp>
      <p:pic>
        <p:nvPicPr>
          <p:cNvPr id="4" name="figure" descr="04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전구가 어두워짐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전구 여러 개가 전압을 나눠 씀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하나가 꺼지면 모두 꺼짐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길이 하나라 한 곳만 끊겨도 전체가 멈춤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병렬 연결 — 갈래길로 나누기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전기가 지나는 길이 여러 개입니다</a:t>
            </a:r>
          </a:p>
        </p:txBody>
      </p:sp>
      <p:pic>
        <p:nvPicPr>
          <p:cNvPr id="4" name="figure" descr="04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전구가 밝게 유지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모든 전구가 같은 전압을 받음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2BAE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하나가 꺼져도 나머지는 그대로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다른 길로 계속 전기가 흐름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콘센트는 모두 병렬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그래서 TV를 꺼도 냉장고는 계속 돌아갑니다</a:t>
            </a:r>
          </a:p>
        </p:txBody>
      </p:sp>
      <p:pic>
        <p:nvPicPr>
          <p:cNvPr id="4" name="figure" descr="04_house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전력과 전기요금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전기가 얼마나 일을 하는가</a:t>
            </a:r>
          </a:p>
        </p:txBody>
      </p:sp>
      <p:pic>
        <p:nvPicPr>
          <p:cNvPr id="5" name="icon" descr="sec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전력 (W) = 전압 × 전류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전기가 1초 동안 하는 일의 양 — 숫자가 클수록 힘이 세고 전기를 많이 씁니다</a:t>
            </a:r>
          </a:p>
        </p:txBody>
      </p:sp>
      <p:pic>
        <p:nvPicPr>
          <p:cNvPr id="4" name="figure" descr="05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FFC2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B07800"/>
                  </a:solidFill>
                  <a:latin typeface="맑은 고딕"/>
                  <a:ea typeface="맑은 고딕"/>
                  <a:cs typeface="맑은 고딕"/>
                </a:rPr>
                <a:t>단위 와트 (W)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가전제품 뒷면 스티커에 적힌 숫자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예시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220V × 5A = 1,100W (전자레인지 정도)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가전제품, 누가 전기 대장일까?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열을 만드는 제품이 전기를 가장 많이 씁니다</a:t>
            </a:r>
          </a:p>
        </p:txBody>
      </p:sp>
      <p:graphicFrame>
        <p:nvGraphicFramePr>
          <p:cNvPr id="4" name="chart"/>
          <p:cNvGraphicFramePr>
            <a:graphicFrameLocks noGrp="1"/>
          </p:cNvGraphicFramePr>
          <p:nvPr/>
        </p:nvGraphicFramePr>
        <p:xfrm>
          <a:off x="612648" y="182880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5" name="point1"/>
          <p:cNvGrpSpPr/>
          <p:nvPr/>
        </p:nvGrpSpPr>
        <p:grpSpPr>
          <a:xfrm>
            <a:off x="7744968" y="2583180"/>
            <a:ext cx="3834079" cy="1325880"/>
            <a:chOff x="7744968" y="2583180"/>
            <a:chExt cx="3834079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744968" y="2583180"/>
              <a:ext cx="3834079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001000" y="2857500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39328" y="2766060"/>
              <a:ext cx="3056839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전기 대장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39328" y="3204972"/>
              <a:ext cx="3056839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에어컨·드라이어·전자레인지처럼 열을 내거나 식히는 제품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744968" y="4137660"/>
            <a:ext cx="3834079" cy="1325880"/>
            <a:chOff x="7744968" y="4137660"/>
            <a:chExt cx="3834079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744968" y="4137660"/>
              <a:ext cx="3834079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001000" y="4411980"/>
              <a:ext cx="201168" cy="201168"/>
            </a:xfrm>
            <a:prstGeom prst="ellipse">
              <a:avLst/>
            </a:prstGeom>
            <a:solidFill>
              <a:srgbClr val="2BAE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39328" y="4320540"/>
              <a:ext cx="3056839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절약 왕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39328" y="4759452"/>
              <a:ext cx="3056839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LED 전구는 옛날 백열전구(60W)의 약 1/6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12648" y="64008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※ 제품마다 다른 대략적인 값</a:t>
            </a:r>
          </a:p>
        </p:txBody>
      </p:sp>
      <p:sp>
        <p:nvSpPr>
          <p:cNvPr id="16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전기요금 = 전력 × 사용 시간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요금은 kWh(킬로와트시) 단위로 매겨집니다 — 1,000W를 1시간 쓰면 1kWh</a:t>
            </a:r>
          </a:p>
        </p:txBody>
      </p:sp>
      <p:pic>
        <p:nvPicPr>
          <p:cNvPr id="4" name="figure" descr="05_k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직류와 교류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한 방향으로 흐르는 전기, 왔다 갔다 하는 전기</a:t>
            </a:r>
          </a:p>
        </p:txBody>
      </p:sp>
      <p:pic>
        <p:nvPicPr>
          <p:cNvPr id="5" name="icon" descr="sec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직류(DC)와 교류(AC)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직류는 한 방향으로만, 교류는 1초에 60번씩 방향을 바꿔 가며 흐릅니다</a:t>
            </a:r>
          </a:p>
        </p:txBody>
      </p:sp>
      <p:pic>
        <p:nvPicPr>
          <p:cNvPr id="4" name="m06_dc_ac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8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1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어댑터는 교류를 직류로 바꾸는 통역사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콘센트는 교류 220V, 휴대폰은 직류 5V — 그 사이를 어댑터가 이어 줍니다</a:t>
            </a:r>
          </a:p>
        </p:txBody>
      </p:sp>
      <p:pic>
        <p:nvPicPr>
          <p:cNvPr id="4" name="figure" descr="06_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전자 부품 5총사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전자제품 속을 열면 꼭 보이는 친구들</a:t>
            </a:r>
          </a:p>
        </p:txBody>
      </p:sp>
      <p:pic>
        <p:nvPicPr>
          <p:cNvPr id="5" name="icon" descr="sec_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 — 전류를 줄이는 좁은 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전류가 너무 많이 흐르지 않도록 적당히 막아 줍니다</a:t>
            </a:r>
          </a:p>
        </p:txBody>
      </p:sp>
      <p:pic>
        <p:nvPicPr>
          <p:cNvPr id="4" name="figure" descr="07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생김새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작은 원통에 색깔 띠가 그려진 부품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1F24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색깔 띠의 의미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띠 색깔이 저항값(몇 Ω인지)을 알려 주는 암호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커패시터 — 전기를 잠깐 담아 두는 물통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전기를 모았다가 필요할 때 한꺼번에 내보냅니다</a:t>
            </a:r>
          </a:p>
        </p:txBody>
      </p:sp>
      <p:pic>
        <p:nvPicPr>
          <p:cNvPr id="4" name="figure" descr="07_capac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1FA2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하는 일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전기를 저장했다가 방출, 흐름을 부드럽게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1F24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예시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카메라 플래시, 전원이 꺼져도 잠깐 켜져 있는 LED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커패시터의 충전과 방전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물통이 차오르듯 전압이 서서히 오르고, 내보낼 때는 서서히 내려갑니다</a:t>
            </a:r>
          </a:p>
        </p:txBody>
      </p:sp>
      <p:pic>
        <p:nvPicPr>
          <p:cNvPr id="4" name="m07_capacitor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8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1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다이오드 — 한쪽으로만 열리는 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전기를 한 방향으로만 흐르게 합니다</a:t>
            </a:r>
          </a:p>
        </p:txBody>
      </p:sp>
      <p:pic>
        <p:nvPicPr>
          <p:cNvPr id="4" name="figure" descr="07_d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2BAE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정방향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화살표 방향으로는 문이 열려 통과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역방향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반대 방향으로는 문이 닫혀 막힘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LED — 빛을 내는 다이오드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다이오드의 한 종류로, 전기가 통과할 때 빛이 납니다</a:t>
            </a:r>
          </a:p>
        </p:txBody>
      </p:sp>
      <p:pic>
        <p:nvPicPr>
          <p:cNvPr id="4" name="figure" descr="07_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다리 길이로 방향 구분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긴 다리 = +, 짧은 다리 = −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2BAE6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효율이 좋음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열을 적게 내고 전기를 적게 씀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트랜지스터 — 전기의 수도꼭지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작은 신호로 큰 전류를 켜고 끄거나 키웁니다</a:t>
            </a:r>
          </a:p>
        </p:txBody>
      </p:sp>
      <p:pic>
        <p:nvPicPr>
          <p:cNvPr id="4" name="figure" descr="07_tran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2674620"/>
            <a:ext cx="4375127" cy="1325880"/>
            <a:chOff x="7203919" y="267462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267462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948939"/>
              <a:ext cx="201168" cy="201168"/>
            </a:xfrm>
            <a:prstGeom prst="ellipse">
              <a:avLst/>
            </a:prstGeom>
            <a:solidFill>
              <a:srgbClr val="1FA2D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85750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스위치 역할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329641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켜짐(1)과 꺼짐(0) — 컴퓨터의 기본 원리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4229100"/>
            <a:ext cx="4375127" cy="1325880"/>
            <a:chOff x="7203919" y="422910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422910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4503420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441198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증폭 역할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85089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작은 소리 신호를 큰 소리로 (스피커, 마이크)</a:t>
              </a:r>
            </a:p>
          </p:txBody>
        </p:sp>
      </p:grpSp>
      <p:sp>
        <p:nvSpPr>
          <p:cNvPr id="1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전자 부품 5총사 정리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모든 전자제품은 이 부품들의 조합입니다</a:t>
            </a:r>
          </a:p>
        </p:txBody>
      </p:sp>
      <p:grpSp>
        <p:nvGrpSpPr>
          <p:cNvPr id="4" name="card1"/>
          <p:cNvGrpSpPr/>
          <p:nvPr/>
        </p:nvGrpSpPr>
        <p:grpSpPr>
          <a:xfrm>
            <a:off x="612648" y="1965960"/>
            <a:ext cx="1973823" cy="4160520"/>
            <a:chOff x="612648" y="1965960"/>
            <a:chExt cx="1973823" cy="4160520"/>
          </a:xfrm>
        </p:grpSpPr>
        <p:sp>
          <p:nvSpPr>
            <p:cNvPr id="5" name="Rounded Rectangle 4"/>
            <p:cNvSpPr/>
            <p:nvPr/>
          </p:nvSpPr>
          <p:spPr>
            <a:xfrm>
              <a:off x="612648" y="1965960"/>
              <a:ext cx="1973823" cy="4160520"/>
            </a:xfrm>
            <a:prstGeom prst="roundRect">
              <a:avLst>
                <a:gd name="adj" fmla="val 8338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" name="Picture 5" descr="icon_resistor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2339" y="2377440"/>
              <a:ext cx="1234440" cy="123444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95528" y="3931920"/>
              <a:ext cx="1608063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저항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4526280"/>
              <a:ext cx="1608063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좁은 관</a:t>
              </a:r>
            </a:p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전류 줄이기</a:t>
              </a:r>
            </a:p>
          </p:txBody>
        </p:sp>
      </p:grpSp>
      <p:grpSp>
        <p:nvGrpSpPr>
          <p:cNvPr id="9" name="card2"/>
          <p:cNvGrpSpPr/>
          <p:nvPr/>
        </p:nvGrpSpPr>
        <p:grpSpPr>
          <a:xfrm>
            <a:off x="2860791" y="1965960"/>
            <a:ext cx="1973823" cy="4160520"/>
            <a:chOff x="2860791" y="1965960"/>
            <a:chExt cx="1973823" cy="4160520"/>
          </a:xfrm>
        </p:grpSpPr>
        <p:sp>
          <p:nvSpPr>
            <p:cNvPr id="10" name="Rounded Rectangle 9"/>
            <p:cNvSpPr/>
            <p:nvPr/>
          </p:nvSpPr>
          <p:spPr>
            <a:xfrm>
              <a:off x="2860791" y="1965960"/>
              <a:ext cx="1973823" cy="4160520"/>
            </a:xfrm>
            <a:prstGeom prst="roundRect">
              <a:avLst>
                <a:gd name="adj" fmla="val 8338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" name="Picture 10" descr="icon_capacito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0483" y="2377440"/>
              <a:ext cx="1234440" cy="12344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043671" y="3931920"/>
              <a:ext cx="1608063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커패시터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3671" y="4526280"/>
              <a:ext cx="1608063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물통</a:t>
              </a:r>
            </a:p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잠깐 저장</a:t>
              </a:r>
            </a:p>
          </p:txBody>
        </p:sp>
      </p:grpSp>
      <p:grpSp>
        <p:nvGrpSpPr>
          <p:cNvPr id="14" name="card3"/>
          <p:cNvGrpSpPr/>
          <p:nvPr/>
        </p:nvGrpSpPr>
        <p:grpSpPr>
          <a:xfrm>
            <a:off x="5108935" y="1965960"/>
            <a:ext cx="1973823" cy="4160520"/>
            <a:chOff x="5108935" y="1965960"/>
            <a:chExt cx="1973823" cy="4160520"/>
          </a:xfrm>
        </p:grpSpPr>
        <p:sp>
          <p:nvSpPr>
            <p:cNvPr id="15" name="Rounded Rectangle 14"/>
            <p:cNvSpPr/>
            <p:nvPr/>
          </p:nvSpPr>
          <p:spPr>
            <a:xfrm>
              <a:off x="5108935" y="1965960"/>
              <a:ext cx="1973823" cy="4160520"/>
            </a:xfrm>
            <a:prstGeom prst="roundRect">
              <a:avLst>
                <a:gd name="adj" fmla="val 8338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6" name="Picture 15" descr="icon_dio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8627" y="2377440"/>
              <a:ext cx="1234440" cy="12344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5291815" y="3931920"/>
              <a:ext cx="1608063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다이오드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91815" y="4526280"/>
              <a:ext cx="1608063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일방통행 문</a:t>
              </a:r>
            </a:p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한 방향만</a:t>
              </a:r>
            </a:p>
          </p:txBody>
        </p:sp>
      </p:grpSp>
      <p:grpSp>
        <p:nvGrpSpPr>
          <p:cNvPr id="19" name="card4"/>
          <p:cNvGrpSpPr/>
          <p:nvPr/>
        </p:nvGrpSpPr>
        <p:grpSpPr>
          <a:xfrm>
            <a:off x="7357079" y="1965960"/>
            <a:ext cx="1973823" cy="4160520"/>
            <a:chOff x="7357079" y="1965960"/>
            <a:chExt cx="1973823" cy="4160520"/>
          </a:xfrm>
        </p:grpSpPr>
        <p:sp>
          <p:nvSpPr>
            <p:cNvPr id="20" name="Rounded Rectangle 19"/>
            <p:cNvSpPr/>
            <p:nvPr/>
          </p:nvSpPr>
          <p:spPr>
            <a:xfrm>
              <a:off x="7357079" y="1965960"/>
              <a:ext cx="1973823" cy="4160520"/>
            </a:xfrm>
            <a:prstGeom prst="roundRect">
              <a:avLst>
                <a:gd name="adj" fmla="val 8338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1" name="Picture 20" descr="icon_l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26771" y="2377440"/>
              <a:ext cx="1234440" cy="123444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539959" y="3931920"/>
              <a:ext cx="1608063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B07800"/>
                  </a:solidFill>
                  <a:latin typeface="맑은 고딕"/>
                  <a:ea typeface="맑은 고딕"/>
                  <a:cs typeface="맑은 고딕"/>
                </a:rPr>
                <a:t>LED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39959" y="4526280"/>
              <a:ext cx="1608063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빛나는</a:t>
              </a:r>
            </a:p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다이오드</a:t>
              </a:r>
            </a:p>
          </p:txBody>
        </p:sp>
      </p:grpSp>
      <p:grpSp>
        <p:nvGrpSpPr>
          <p:cNvPr id="24" name="card5"/>
          <p:cNvGrpSpPr/>
          <p:nvPr/>
        </p:nvGrpSpPr>
        <p:grpSpPr>
          <a:xfrm>
            <a:off x="9605223" y="1965960"/>
            <a:ext cx="1973823" cy="4160520"/>
            <a:chOff x="9605223" y="1965960"/>
            <a:chExt cx="1973823" cy="4160520"/>
          </a:xfrm>
        </p:grpSpPr>
        <p:sp>
          <p:nvSpPr>
            <p:cNvPr id="25" name="Rounded Rectangle 24"/>
            <p:cNvSpPr/>
            <p:nvPr/>
          </p:nvSpPr>
          <p:spPr>
            <a:xfrm>
              <a:off x="9605223" y="1965960"/>
              <a:ext cx="1973823" cy="4160520"/>
            </a:xfrm>
            <a:prstGeom prst="roundRect">
              <a:avLst>
                <a:gd name="adj" fmla="val 8338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icon_transistor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74915" y="2377440"/>
              <a:ext cx="1234440" cy="12344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9788103" y="3931920"/>
              <a:ext cx="1608063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트랜지스터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88103" y="4526280"/>
              <a:ext cx="1608063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수도꼭지</a:t>
              </a:r>
            </a:p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스위치·증폭</a:t>
              </a:r>
            </a:p>
          </p:txBody>
        </p:sp>
      </p:grpSp>
      <p:sp>
        <p:nvSpPr>
          <p:cNvPr id="29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전기 안전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알면 무섭지 않고, 모르면 위험하다</a:t>
            </a:r>
          </a:p>
        </p:txBody>
      </p:sp>
      <p:pic>
        <p:nvPicPr>
          <p:cNvPr id="5" name="icon" descr="sec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감전은 왜 위험할까?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사람 몸도 전기가 흐르는 '길'이 될 수 있기 때문입니다</a:t>
            </a:r>
          </a:p>
        </p:txBody>
      </p:sp>
      <p:pic>
        <p:nvPicPr>
          <p:cNvPr id="4" name="figure" descr="08_sh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grpSp>
        <p:nvGrpSpPr>
          <p:cNvPr id="5" name="point1"/>
          <p:cNvGrpSpPr/>
          <p:nvPr/>
        </p:nvGrpSpPr>
        <p:grpSpPr>
          <a:xfrm>
            <a:off x="7203919" y="1897380"/>
            <a:ext cx="4375127" cy="1325880"/>
            <a:chOff x="7203919" y="1897380"/>
            <a:chExt cx="4375127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7203919" y="189738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459951" y="2171700"/>
              <a:ext cx="201168" cy="201168"/>
            </a:xfrm>
            <a:prstGeom prst="ellipse">
              <a:avLst/>
            </a:prstGeom>
            <a:solidFill>
              <a:srgbClr val="F29A0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98279" y="208026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1mA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98279" y="251917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찌릿하고 느껴지는 정도</a:t>
              </a:r>
            </a:p>
          </p:txBody>
        </p:sp>
      </p:grpSp>
      <p:grpSp>
        <p:nvGrpSpPr>
          <p:cNvPr id="10" name="point2"/>
          <p:cNvGrpSpPr/>
          <p:nvPr/>
        </p:nvGrpSpPr>
        <p:grpSpPr>
          <a:xfrm>
            <a:off x="7203919" y="3451860"/>
            <a:ext cx="4375127" cy="1325880"/>
            <a:chOff x="7203919" y="3451860"/>
            <a:chExt cx="4375127" cy="1325880"/>
          </a:xfrm>
        </p:grpSpPr>
        <p:sp>
          <p:nvSpPr>
            <p:cNvPr id="11" name="Rounded Rectangle 10"/>
            <p:cNvSpPr/>
            <p:nvPr/>
          </p:nvSpPr>
          <p:spPr>
            <a:xfrm>
              <a:off x="7203919" y="345186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459951" y="3726180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98279" y="363474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10mA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98279" y="407365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근육이 굳어 손을 뗄 수 없음</a:t>
              </a:r>
            </a:p>
          </p:txBody>
        </p:sp>
      </p:grpSp>
      <p:grpSp>
        <p:nvGrpSpPr>
          <p:cNvPr id="15" name="point3"/>
          <p:cNvGrpSpPr/>
          <p:nvPr/>
        </p:nvGrpSpPr>
        <p:grpSpPr>
          <a:xfrm>
            <a:off x="7203919" y="5006340"/>
            <a:ext cx="4375127" cy="1325880"/>
            <a:chOff x="7203919" y="5006340"/>
            <a:chExt cx="4375127" cy="1325880"/>
          </a:xfrm>
        </p:grpSpPr>
        <p:sp>
          <p:nvSpPr>
            <p:cNvPr id="16" name="Rounded Rectangle 15"/>
            <p:cNvSpPr/>
            <p:nvPr/>
          </p:nvSpPr>
          <p:spPr>
            <a:xfrm>
              <a:off x="7203919" y="5006340"/>
              <a:ext cx="4375127" cy="1325880"/>
            </a:xfrm>
            <a:prstGeom prst="roundRect">
              <a:avLst>
                <a:gd name="adj" fmla="val 12413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459951" y="5280660"/>
              <a:ext cx="201168" cy="201168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98279" y="5189220"/>
              <a:ext cx="3597887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9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100mA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98279" y="5628132"/>
              <a:ext cx="3597887" cy="59435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심장에 치명적일 수 있음</a:t>
              </a:r>
            </a:p>
          </p:txBody>
        </p:sp>
      </p:grpSp>
      <p:sp>
        <p:nvSpPr>
          <p:cNvPr id="20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누전차단기 — 새는 전기를 감시하는 경비원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들어간 전기와 나온 전기가 다르면 0.03초 만에 전기를 끊습니다</a:t>
            </a:r>
          </a:p>
        </p:txBody>
      </p:sp>
      <p:pic>
        <p:nvPicPr>
          <p:cNvPr id="4" name="figure" descr="08_bre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생활 속 전기 안전 수칙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이것만 지켜도 대부분의 사고를 막을 수 있습니다</a:t>
            </a:r>
          </a:p>
        </p:txBody>
      </p:sp>
      <p:grpSp>
        <p:nvGrpSpPr>
          <p:cNvPr id="4" name="card1"/>
          <p:cNvGrpSpPr/>
          <p:nvPr/>
        </p:nvGrpSpPr>
        <p:grpSpPr>
          <a:xfrm>
            <a:off x="612648" y="1965960"/>
            <a:ext cx="2535859" cy="4160520"/>
            <a:chOff x="612648" y="1965960"/>
            <a:chExt cx="2535859" cy="4160520"/>
          </a:xfrm>
        </p:grpSpPr>
        <p:sp>
          <p:nvSpPr>
            <p:cNvPr id="5" name="Rounded Rectangle 4"/>
            <p:cNvSpPr/>
            <p:nvPr/>
          </p:nvSpPr>
          <p:spPr>
            <a:xfrm>
              <a:off x="612648" y="1965960"/>
              <a:ext cx="2535859" cy="4160520"/>
            </a:xfrm>
            <a:prstGeom prst="roundRect">
              <a:avLst>
                <a:gd name="adj" fmla="val 6490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" name="Picture 5" descr="icon_wet_han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3357" y="2377440"/>
              <a:ext cx="1234440" cy="123444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95528" y="3931920"/>
              <a:ext cx="2170099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젖은 손 금지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4526280"/>
              <a:ext cx="2170099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물기는 몸의 저항을 낮춰 감전 위험 ↑</a:t>
              </a:r>
            </a:p>
          </p:txBody>
        </p:sp>
      </p:grpSp>
      <p:grpSp>
        <p:nvGrpSpPr>
          <p:cNvPr id="9" name="card2"/>
          <p:cNvGrpSpPr/>
          <p:nvPr/>
        </p:nvGrpSpPr>
        <p:grpSpPr>
          <a:xfrm>
            <a:off x="3422827" y="1965960"/>
            <a:ext cx="2535859" cy="4160520"/>
            <a:chOff x="3422827" y="1965960"/>
            <a:chExt cx="2535859" cy="4160520"/>
          </a:xfrm>
        </p:grpSpPr>
        <p:sp>
          <p:nvSpPr>
            <p:cNvPr id="10" name="Rounded Rectangle 9"/>
            <p:cNvSpPr/>
            <p:nvPr/>
          </p:nvSpPr>
          <p:spPr>
            <a:xfrm>
              <a:off x="3422827" y="1965960"/>
              <a:ext cx="2535859" cy="4160520"/>
            </a:xfrm>
            <a:prstGeom prst="roundRect">
              <a:avLst>
                <a:gd name="adj" fmla="val 6490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" name="Picture 10" descr="icon_multita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3537" y="2377440"/>
              <a:ext cx="1234440" cy="12344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605707" y="3931920"/>
              <a:ext cx="2170099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문어발 금지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05707" y="4526280"/>
              <a:ext cx="2170099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한 콘센트에 너무 많이 꽂으면 과열·화재</a:t>
              </a:r>
            </a:p>
          </p:txBody>
        </p:sp>
      </p:grpSp>
      <p:grpSp>
        <p:nvGrpSpPr>
          <p:cNvPr id="14" name="card3"/>
          <p:cNvGrpSpPr/>
          <p:nvPr/>
        </p:nvGrpSpPr>
        <p:grpSpPr>
          <a:xfrm>
            <a:off x="6233007" y="1965960"/>
            <a:ext cx="2535859" cy="4160520"/>
            <a:chOff x="6233007" y="1965960"/>
            <a:chExt cx="2535859" cy="4160520"/>
          </a:xfrm>
        </p:grpSpPr>
        <p:sp>
          <p:nvSpPr>
            <p:cNvPr id="15" name="Rounded Rectangle 14"/>
            <p:cNvSpPr/>
            <p:nvPr/>
          </p:nvSpPr>
          <p:spPr>
            <a:xfrm>
              <a:off x="6233007" y="1965960"/>
              <a:ext cx="2535859" cy="4160520"/>
            </a:xfrm>
            <a:prstGeom prst="roundRect">
              <a:avLst>
                <a:gd name="adj" fmla="val 6490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6" name="Picture 15" descr="icon_plug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3717" y="2377440"/>
              <a:ext cx="1234440" cy="12344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6415887" y="3931920"/>
              <a:ext cx="2170099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플러그 몸체 잡기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15887" y="4526280"/>
              <a:ext cx="2170099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선을 잡아당기면 피복이 벗겨짐</a:t>
              </a:r>
            </a:p>
          </p:txBody>
        </p:sp>
      </p:grpSp>
      <p:grpSp>
        <p:nvGrpSpPr>
          <p:cNvPr id="19" name="card4"/>
          <p:cNvGrpSpPr/>
          <p:nvPr/>
        </p:nvGrpSpPr>
        <p:grpSpPr>
          <a:xfrm>
            <a:off x="9043187" y="1965960"/>
            <a:ext cx="2535859" cy="4160520"/>
            <a:chOff x="9043187" y="1965960"/>
            <a:chExt cx="2535859" cy="4160520"/>
          </a:xfrm>
        </p:grpSpPr>
        <p:sp>
          <p:nvSpPr>
            <p:cNvPr id="20" name="Rounded Rectangle 19"/>
            <p:cNvSpPr/>
            <p:nvPr/>
          </p:nvSpPr>
          <p:spPr>
            <a:xfrm>
              <a:off x="9043187" y="1965960"/>
              <a:ext cx="2535859" cy="4160520"/>
            </a:xfrm>
            <a:prstGeom prst="roundRect">
              <a:avLst>
                <a:gd name="adj" fmla="val 6490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1" name="Picture 20" descr="icon_breaker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93897" y="2377440"/>
              <a:ext cx="1234440" cy="123444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9226067" y="3931920"/>
              <a:ext cx="2170099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20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차단기 점검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226067" y="4526280"/>
              <a:ext cx="2170099" cy="146303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한 달에 한 번 시험 버튼 누르기</a:t>
              </a:r>
            </a:p>
          </p:txBody>
        </p:sp>
      </p:grpSp>
      <p:sp>
        <p:nvSpPr>
          <p:cNvPr id="24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휴대폰 충전기 속을 들여다보면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오늘 배운 것들이 작은 충전기 하나에 모두 들어 있습니다</a:t>
            </a:r>
          </a:p>
        </p:txBody>
      </p:sp>
      <p:pic>
        <p:nvPicPr>
          <p:cNvPr id="4" name="figure" descr="09_char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충전기 속 파형의 변신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구불구불한 교류가 단계마다 다듬어져 반듯한 직류 5V가 됩니다</a:t>
            </a:r>
          </a:p>
        </p:txBody>
      </p:sp>
      <p:pic>
        <p:nvPicPr>
          <p:cNvPr id="4" name="m09_charger_waveforms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8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2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오늘 배운 핵심 여섯 가지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이 여섯 줄만 기억해도 전기의 기본은 끝!</a:t>
            </a:r>
          </a:p>
        </p:txBody>
      </p:sp>
      <p:grpSp>
        <p:nvGrpSpPr>
          <p:cNvPr id="4" name="card1"/>
          <p:cNvGrpSpPr/>
          <p:nvPr/>
        </p:nvGrpSpPr>
        <p:grpSpPr>
          <a:xfrm>
            <a:off x="612648" y="1920240"/>
            <a:ext cx="3472586" cy="1965960"/>
            <a:chOff x="612648" y="1920240"/>
            <a:chExt cx="3472586" cy="1965960"/>
          </a:xfrm>
        </p:grpSpPr>
        <p:sp>
          <p:nvSpPr>
            <p:cNvPr id="5" name="Rounded Rectangle 4"/>
            <p:cNvSpPr/>
            <p:nvPr/>
          </p:nvSpPr>
          <p:spPr>
            <a:xfrm>
              <a:off x="612648" y="1920240"/>
              <a:ext cx="3472586" cy="1965960"/>
            </a:xfrm>
            <a:prstGeom prst="roundRect">
              <a:avLst>
                <a:gd name="adj" fmla="val 8372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" name="Picture 5" descr="icon_electro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248" y="2400300"/>
              <a:ext cx="1005840" cy="100584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029968" y="2103120"/>
              <a:ext cx="1872386" cy="1600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1FA2D8"/>
                  </a:solidFill>
                  <a:latin typeface="맑은 고딕"/>
                  <a:ea typeface="맑은 고딕"/>
                  <a:cs typeface="맑은 고딕"/>
                </a:rPr>
                <a:t>전기</a:t>
              </a:r>
            </a:p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전자의 이동</a:t>
              </a:r>
            </a:p>
          </p:txBody>
        </p:sp>
      </p:grpSp>
      <p:grpSp>
        <p:nvGrpSpPr>
          <p:cNvPr id="8" name="card2"/>
          <p:cNvGrpSpPr/>
          <p:nvPr/>
        </p:nvGrpSpPr>
        <p:grpSpPr>
          <a:xfrm>
            <a:off x="4359554" y="1920240"/>
            <a:ext cx="3472586" cy="1965960"/>
            <a:chOff x="4359554" y="1920240"/>
            <a:chExt cx="3472586" cy="1965960"/>
          </a:xfrm>
        </p:grpSpPr>
        <p:sp>
          <p:nvSpPr>
            <p:cNvPr id="9" name="Rounded Rectangle 8"/>
            <p:cNvSpPr/>
            <p:nvPr/>
          </p:nvSpPr>
          <p:spPr>
            <a:xfrm>
              <a:off x="4359554" y="1920240"/>
              <a:ext cx="3472586" cy="1965960"/>
            </a:xfrm>
            <a:prstGeom prst="roundRect">
              <a:avLst>
                <a:gd name="adj" fmla="val 8372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" name="Picture 9" descr="icon_volt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8154" y="2400300"/>
              <a:ext cx="1005840" cy="100584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5776874" y="2103120"/>
              <a:ext cx="1872386" cy="1600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F29A07"/>
                  </a:solidFill>
                  <a:latin typeface="맑은 고딕"/>
                  <a:ea typeface="맑은 고딕"/>
                  <a:cs typeface="맑은 고딕"/>
                </a:rPr>
                <a:t>전압·전류·저항</a:t>
              </a:r>
            </a:p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미는 힘 · 흐르는 양</a:t>
              </a:r>
            </a:p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방해하는 정도</a:t>
              </a:r>
            </a:p>
          </p:txBody>
        </p:sp>
      </p:grpSp>
      <p:grpSp>
        <p:nvGrpSpPr>
          <p:cNvPr id="12" name="card3"/>
          <p:cNvGrpSpPr/>
          <p:nvPr/>
        </p:nvGrpSpPr>
        <p:grpSpPr>
          <a:xfrm>
            <a:off x="8106460" y="1920240"/>
            <a:ext cx="3472586" cy="1965960"/>
            <a:chOff x="8106460" y="1920240"/>
            <a:chExt cx="3472586" cy="1965960"/>
          </a:xfrm>
        </p:grpSpPr>
        <p:sp>
          <p:nvSpPr>
            <p:cNvPr id="13" name="Rounded Rectangle 12"/>
            <p:cNvSpPr/>
            <p:nvPr/>
          </p:nvSpPr>
          <p:spPr>
            <a:xfrm>
              <a:off x="8106460" y="1920240"/>
              <a:ext cx="3472586" cy="1965960"/>
            </a:xfrm>
            <a:prstGeom prst="roundRect">
              <a:avLst>
                <a:gd name="adj" fmla="val 8372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icon_ohm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35060" y="2400300"/>
              <a:ext cx="1005840" cy="10058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9523780" y="2103120"/>
              <a:ext cx="1872386" cy="1600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옴의 법칙</a:t>
              </a:r>
            </a:p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V = I × R</a:t>
              </a:r>
            </a:p>
          </p:txBody>
        </p:sp>
      </p:grpSp>
      <p:grpSp>
        <p:nvGrpSpPr>
          <p:cNvPr id="16" name="card4"/>
          <p:cNvGrpSpPr/>
          <p:nvPr/>
        </p:nvGrpSpPr>
        <p:grpSpPr>
          <a:xfrm>
            <a:off x="612648" y="4160520"/>
            <a:ext cx="3472586" cy="1965960"/>
            <a:chOff x="612648" y="4160520"/>
            <a:chExt cx="3472586" cy="1965960"/>
          </a:xfrm>
        </p:grpSpPr>
        <p:sp>
          <p:nvSpPr>
            <p:cNvPr id="17" name="Rounded Rectangle 16"/>
            <p:cNvSpPr/>
            <p:nvPr/>
          </p:nvSpPr>
          <p:spPr>
            <a:xfrm>
              <a:off x="612648" y="4160520"/>
              <a:ext cx="3472586" cy="1965960"/>
            </a:xfrm>
            <a:prstGeom prst="roundRect">
              <a:avLst>
                <a:gd name="adj" fmla="val 8372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icon_circui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248" y="4640579"/>
              <a:ext cx="1005840" cy="100584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2029968" y="4343400"/>
              <a:ext cx="1872386" cy="1600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2BAE66"/>
                  </a:solidFill>
                  <a:latin typeface="맑은 고딕"/>
                  <a:ea typeface="맑은 고딕"/>
                  <a:cs typeface="맑은 고딕"/>
                </a:rPr>
                <a:t>회로</a:t>
              </a:r>
            </a:p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닫혀야 흐른다</a:t>
              </a:r>
            </a:p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우리 집은 병렬</a:t>
              </a:r>
            </a:p>
          </p:txBody>
        </p:sp>
      </p:grpSp>
      <p:grpSp>
        <p:nvGrpSpPr>
          <p:cNvPr id="20" name="card5"/>
          <p:cNvGrpSpPr/>
          <p:nvPr/>
        </p:nvGrpSpPr>
        <p:grpSpPr>
          <a:xfrm>
            <a:off x="4359554" y="4160520"/>
            <a:ext cx="3472586" cy="1965960"/>
            <a:chOff x="4359554" y="4160520"/>
            <a:chExt cx="3472586" cy="1965960"/>
          </a:xfrm>
        </p:grpSpPr>
        <p:sp>
          <p:nvSpPr>
            <p:cNvPr id="21" name="Rounded Rectangle 20"/>
            <p:cNvSpPr/>
            <p:nvPr/>
          </p:nvSpPr>
          <p:spPr>
            <a:xfrm>
              <a:off x="4359554" y="4160520"/>
              <a:ext cx="3472586" cy="1965960"/>
            </a:xfrm>
            <a:prstGeom prst="roundRect">
              <a:avLst>
                <a:gd name="adj" fmla="val 8372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2" name="Picture 21" descr="icon_power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8154" y="4640579"/>
              <a:ext cx="1005840" cy="100584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5776874" y="4343400"/>
              <a:ext cx="1872386" cy="1600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B07800"/>
                  </a:solidFill>
                  <a:latin typeface="맑은 고딕"/>
                  <a:ea typeface="맑은 고딕"/>
                  <a:cs typeface="맑은 고딕"/>
                </a:rPr>
                <a:t>전력</a:t>
              </a:r>
            </a:p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W = V × A</a:t>
              </a:r>
            </a:p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요금은 kWh</a:t>
              </a:r>
            </a:p>
          </p:txBody>
        </p:sp>
      </p:grpSp>
      <p:grpSp>
        <p:nvGrpSpPr>
          <p:cNvPr id="24" name="card6"/>
          <p:cNvGrpSpPr/>
          <p:nvPr/>
        </p:nvGrpSpPr>
        <p:grpSpPr>
          <a:xfrm>
            <a:off x="8106460" y="4160520"/>
            <a:ext cx="3472586" cy="1965960"/>
            <a:chOff x="8106460" y="4160520"/>
            <a:chExt cx="3472586" cy="1965960"/>
          </a:xfrm>
        </p:grpSpPr>
        <p:sp>
          <p:nvSpPr>
            <p:cNvPr id="25" name="Rounded Rectangle 24"/>
            <p:cNvSpPr/>
            <p:nvPr/>
          </p:nvSpPr>
          <p:spPr>
            <a:xfrm>
              <a:off x="8106460" y="4160520"/>
              <a:ext cx="3472586" cy="1965960"/>
            </a:xfrm>
            <a:prstGeom prst="roundRect">
              <a:avLst>
                <a:gd name="adj" fmla="val 8372"/>
              </a:avLst>
            </a:prstGeom>
            <a:solidFill>
              <a:srgbClr val="F3F5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icon_shiel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5060" y="4640579"/>
              <a:ext cx="1005840" cy="10058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9523780" y="4343400"/>
              <a:ext cx="1872386" cy="1600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E5533D"/>
                  </a:solidFill>
                  <a:latin typeface="맑은 고딕"/>
                  <a:ea typeface="맑은 고딕"/>
                  <a:cs typeface="맑은 고딕"/>
                </a:rPr>
                <a:t>안전</a:t>
              </a:r>
            </a:p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작은 전류도 위험</a:t>
              </a:r>
            </a:p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1F2433"/>
                  </a:solidFill>
                  <a:latin typeface="맑은 고딕"/>
                  <a:ea typeface="맑은 고딕"/>
                  <a:cs typeface="맑은 고딕"/>
                </a:rPr>
                <a:t>차단기 점검</a:t>
              </a:r>
            </a:p>
          </p:txBody>
        </p:sp>
      </p:grpSp>
      <p:sp>
        <p:nvSpPr>
          <p:cNvPr id="3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O/X 퀴즈</a:t>
            </a:r>
          </a:p>
        </p:txBody>
      </p:sp>
      <p:sp>
        <p:nvSpPr>
          <p:cNvPr id="3" name="q1"/>
          <p:cNvSpPr/>
          <p:nvPr/>
        </p:nvSpPr>
        <p:spPr>
          <a:xfrm>
            <a:off x="612648" y="1508760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" y="1737360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508760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전기는 전자가 움직이는 현상이다</a:t>
            </a:r>
          </a:p>
        </p:txBody>
      </p:sp>
      <p:sp>
        <p:nvSpPr>
          <p:cNvPr id="6" name="Oval 5"/>
          <p:cNvSpPr/>
          <p:nvPr/>
        </p:nvSpPr>
        <p:spPr>
          <a:xfrm>
            <a:off x="9805111" y="1664207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7" name="Oval 6"/>
          <p:cNvSpPr/>
          <p:nvPr/>
        </p:nvSpPr>
        <p:spPr>
          <a:xfrm>
            <a:off x="10719511" y="1664207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8" name="q2"/>
          <p:cNvSpPr/>
          <p:nvPr/>
        </p:nvSpPr>
        <p:spPr>
          <a:xfrm>
            <a:off x="612648" y="2734056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962656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2734056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저항이 클수록 전류가 더 많이 흐른다</a:t>
            </a:r>
          </a:p>
        </p:txBody>
      </p:sp>
      <p:sp>
        <p:nvSpPr>
          <p:cNvPr id="11" name="Oval 10"/>
          <p:cNvSpPr/>
          <p:nvPr/>
        </p:nvSpPr>
        <p:spPr>
          <a:xfrm>
            <a:off x="9805111" y="2889504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2" name="Oval 11"/>
          <p:cNvSpPr/>
          <p:nvPr/>
        </p:nvSpPr>
        <p:spPr>
          <a:xfrm>
            <a:off x="10719511" y="2889504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3" name="q3"/>
          <p:cNvSpPr/>
          <p:nvPr/>
        </p:nvSpPr>
        <p:spPr>
          <a:xfrm>
            <a:off x="612648" y="3959352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4187952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3959352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콘센트는 직렬로 연결되어 있다</a:t>
            </a:r>
          </a:p>
        </p:txBody>
      </p:sp>
      <p:sp>
        <p:nvSpPr>
          <p:cNvPr id="16" name="Oval 15"/>
          <p:cNvSpPr/>
          <p:nvPr/>
        </p:nvSpPr>
        <p:spPr>
          <a:xfrm>
            <a:off x="9805111" y="4114800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7" name="Oval 16"/>
          <p:cNvSpPr/>
          <p:nvPr/>
        </p:nvSpPr>
        <p:spPr>
          <a:xfrm>
            <a:off x="10719511" y="4114800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8" name="q4"/>
          <p:cNvSpPr/>
          <p:nvPr/>
        </p:nvSpPr>
        <p:spPr>
          <a:xfrm>
            <a:off x="612648" y="5184648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5413248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5184648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LED는 거꾸로 꽂아도 켜진다</a:t>
            </a:r>
          </a:p>
        </p:txBody>
      </p:sp>
      <p:sp>
        <p:nvSpPr>
          <p:cNvPr id="21" name="Oval 20"/>
          <p:cNvSpPr/>
          <p:nvPr/>
        </p:nvSpPr>
        <p:spPr>
          <a:xfrm>
            <a:off x="9805111" y="5340096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22" name="Oval 21"/>
          <p:cNvSpPr/>
          <p:nvPr/>
        </p:nvSpPr>
        <p:spPr>
          <a:xfrm>
            <a:off x="10719511" y="5340096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2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O/X 퀴즈 — 정답</a:t>
            </a:r>
          </a:p>
        </p:txBody>
      </p:sp>
      <p:sp>
        <p:nvSpPr>
          <p:cNvPr id="3" name="q1"/>
          <p:cNvSpPr/>
          <p:nvPr/>
        </p:nvSpPr>
        <p:spPr>
          <a:xfrm>
            <a:off x="612648" y="1508760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" y="1737360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655063"/>
            <a:ext cx="8223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전기는 전자가 움직이는 현상이다</a:t>
            </a:r>
          </a:p>
        </p:txBody>
      </p:sp>
      <p:grpSp>
        <p:nvGrpSpPr>
          <p:cNvPr id="6" name="a1"/>
          <p:cNvGrpSpPr/>
          <p:nvPr/>
        </p:nvGrpSpPr>
        <p:grpSpPr>
          <a:xfrm>
            <a:off x="1709928" y="1627632"/>
            <a:ext cx="9485071" cy="786384"/>
            <a:chOff x="1709928" y="1627632"/>
            <a:chExt cx="9485071" cy="786384"/>
          </a:xfrm>
        </p:grpSpPr>
        <p:sp>
          <p:nvSpPr>
            <p:cNvPr id="7" name="TextBox 6"/>
            <p:cNvSpPr txBox="1"/>
            <p:nvPr/>
          </p:nvSpPr>
          <p:spPr>
            <a:xfrm>
              <a:off x="1709928" y="2093976"/>
              <a:ext cx="8223199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5B6378"/>
                  </a:solidFill>
                  <a:latin typeface="맑은 고딕"/>
                  <a:ea typeface="맑은 고딕"/>
                  <a:cs typeface="맑은 고딕"/>
                </a:rPr>
                <a:t>전자의 이동이 바로 전기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0408615" y="1627632"/>
              <a:ext cx="786384" cy="786384"/>
            </a:xfrm>
            <a:prstGeom prst="ellipse">
              <a:avLst/>
            </a:prstGeom>
            <a:solidFill>
              <a:srgbClr val="2BAE66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O</a:t>
              </a:r>
            </a:p>
          </p:txBody>
        </p:sp>
      </p:grpSp>
      <p:sp>
        <p:nvSpPr>
          <p:cNvPr id="9" name="q2"/>
          <p:cNvSpPr/>
          <p:nvPr/>
        </p:nvSpPr>
        <p:spPr>
          <a:xfrm>
            <a:off x="612648" y="2734056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962656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2880360"/>
            <a:ext cx="8223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저항이 클수록 전류가 더 많이 흐른다</a:t>
            </a:r>
          </a:p>
        </p:txBody>
      </p:sp>
      <p:grpSp>
        <p:nvGrpSpPr>
          <p:cNvPr id="12" name="a2"/>
          <p:cNvGrpSpPr/>
          <p:nvPr/>
        </p:nvGrpSpPr>
        <p:grpSpPr>
          <a:xfrm>
            <a:off x="1709928" y="2852928"/>
            <a:ext cx="9485071" cy="786384"/>
            <a:chOff x="1709928" y="2852928"/>
            <a:chExt cx="9485071" cy="786384"/>
          </a:xfrm>
        </p:grpSpPr>
        <p:sp>
          <p:nvSpPr>
            <p:cNvPr id="13" name="TextBox 12"/>
            <p:cNvSpPr txBox="1"/>
            <p:nvPr/>
          </p:nvSpPr>
          <p:spPr>
            <a:xfrm>
              <a:off x="1709928" y="3319272"/>
              <a:ext cx="8223199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5B6378"/>
                  </a:solidFill>
                  <a:latin typeface="맑은 고딕"/>
                  <a:ea typeface="맑은 고딕"/>
                  <a:cs typeface="맑은 고딕"/>
                </a:rPr>
                <a:t>좁은 관일수록 물이 덜 흐르듯, 전류는 줄어든다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408615" y="2852928"/>
              <a:ext cx="786384" cy="786384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X</a:t>
              </a:r>
            </a:p>
          </p:txBody>
        </p:sp>
      </p:grpSp>
      <p:sp>
        <p:nvSpPr>
          <p:cNvPr id="15" name="q3"/>
          <p:cNvSpPr/>
          <p:nvPr/>
        </p:nvSpPr>
        <p:spPr>
          <a:xfrm>
            <a:off x="612648" y="3959352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4187952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4105656"/>
            <a:ext cx="8223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콘센트는 직렬로 연결되어 있다</a:t>
            </a:r>
          </a:p>
        </p:txBody>
      </p:sp>
      <p:grpSp>
        <p:nvGrpSpPr>
          <p:cNvPr id="18" name="a3"/>
          <p:cNvGrpSpPr/>
          <p:nvPr/>
        </p:nvGrpSpPr>
        <p:grpSpPr>
          <a:xfrm>
            <a:off x="1709928" y="4078224"/>
            <a:ext cx="9485071" cy="786384"/>
            <a:chOff x="1709928" y="4078224"/>
            <a:chExt cx="9485071" cy="786384"/>
          </a:xfrm>
        </p:grpSpPr>
        <p:sp>
          <p:nvSpPr>
            <p:cNvPr id="19" name="TextBox 18"/>
            <p:cNvSpPr txBox="1"/>
            <p:nvPr/>
          </p:nvSpPr>
          <p:spPr>
            <a:xfrm>
              <a:off x="1709928" y="4544568"/>
              <a:ext cx="8223199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5B6378"/>
                  </a:solidFill>
                  <a:latin typeface="맑은 고딕"/>
                  <a:ea typeface="맑은 고딕"/>
                  <a:cs typeface="맑은 고딕"/>
                </a:rPr>
                <a:t>병렬 연결 — 그래서 하나를 꺼도 나머지는 그대로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10408615" y="4078224"/>
              <a:ext cx="786384" cy="786384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X</a:t>
              </a:r>
            </a:p>
          </p:txBody>
        </p:sp>
      </p:grpSp>
      <p:sp>
        <p:nvSpPr>
          <p:cNvPr id="21" name="q4"/>
          <p:cNvSpPr/>
          <p:nvPr/>
        </p:nvSpPr>
        <p:spPr>
          <a:xfrm>
            <a:off x="612648" y="5184648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5413248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5330952"/>
            <a:ext cx="8223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LED는 거꾸로 꽂아도 켜진다</a:t>
            </a:r>
          </a:p>
        </p:txBody>
      </p:sp>
      <p:grpSp>
        <p:nvGrpSpPr>
          <p:cNvPr id="24" name="a4"/>
          <p:cNvGrpSpPr/>
          <p:nvPr/>
        </p:nvGrpSpPr>
        <p:grpSpPr>
          <a:xfrm>
            <a:off x="1709928" y="5303520"/>
            <a:ext cx="9485071" cy="786384"/>
            <a:chOff x="1709928" y="5303520"/>
            <a:chExt cx="9485071" cy="786384"/>
          </a:xfrm>
        </p:grpSpPr>
        <p:sp>
          <p:nvSpPr>
            <p:cNvPr id="25" name="TextBox 24"/>
            <p:cNvSpPr txBox="1"/>
            <p:nvPr/>
          </p:nvSpPr>
          <p:spPr>
            <a:xfrm>
              <a:off x="1709928" y="5769864"/>
              <a:ext cx="8223199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500" b="0">
                  <a:solidFill>
                    <a:srgbClr val="5B6378"/>
                  </a:solidFill>
                  <a:latin typeface="맑은 고딕"/>
                  <a:ea typeface="맑은 고딕"/>
                  <a:cs typeface="맑은 고딕"/>
                </a:rPr>
                <a:t>다이오드라서 한 방향으로만 흐른다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0408615" y="5303520"/>
              <a:ext cx="786384" cy="786384"/>
            </a:xfrm>
            <a:prstGeom prst="ellipse">
              <a:avLst/>
            </a:prstGeom>
            <a:solidFill>
              <a:srgbClr val="E5533D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X</a:t>
              </a:r>
            </a:p>
          </p:txBody>
        </p:sp>
      </p:grpSp>
      <p:sp>
        <p:nvSpPr>
          <p:cNvPr id="27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ero" descr="0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94360"/>
            <a:ext cx="5669280" cy="56692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1168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42519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궁금한 점을 자유롭게 질문해 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전자전기 기초 특강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